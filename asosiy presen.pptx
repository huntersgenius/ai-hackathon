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6" r:id="rId6"/>
    <p:sldId id="259" r:id="rId7"/>
    <p:sldId id="265" r:id="rId8"/>
    <p:sldId id="261" r:id="rId9"/>
    <p:sldId id="268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5FF00"/>
          </a:solidFill>
          <a:ln w="12700">
            <a:solidFill>
              <a:srgbClr val="A5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A5FF00"/>
          </a:solidFill>
          <a:ln w="12700">
            <a:solidFill>
              <a:srgbClr val="A5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Pitch 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3291840"/>
          </a:xfrm>
          <a:prstGeom prst="rect">
            <a:avLst/>
          </a:prstGeom>
          <a:solidFill>
            <a:srgbClr val="0F1518"/>
          </a:solidFill>
          <a:ln w="12700">
            <a:solidFill>
              <a:srgbClr val="111A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A5FF00"/>
          </a:solidFill>
          <a:ln w="12700">
            <a:solidFill>
              <a:srgbClr val="A5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1325880"/>
            <a:ext cx="1371600" cy="1371600"/>
          </a:xfrm>
          <a:prstGeom prst="line">
            <a:avLst/>
          </a:prstGeom>
          <a:solidFill>
            <a:srgbClr val="111A1E"/>
          </a:solidFill>
          <a:ln w="12700">
            <a:solidFill>
              <a:srgbClr val="A5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1325880"/>
            <a:ext cx="1371600" cy="1371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417320"/>
            <a:ext cx="530352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sz="3800" b="1">
                <a:solidFill>
                  <a:schemeClr val="bg1"/>
                </a:solidFill>
                <a:sym typeface="+mn-ea"/>
              </a:rPr>
              <a:t>Hamroh⁺</a:t>
            </a:r>
            <a:endParaRPr lang="en-US" sz="3800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017520" y="2240280"/>
            <a:ext cx="5303520" cy="54864"/>
          </a:xfrm>
          <a:prstGeom prst="rect">
            <a:avLst/>
          </a:prstGeom>
          <a:solidFill>
            <a:srgbClr val="A5FF00"/>
          </a:solidFill>
          <a:ln w="12700">
            <a:solidFill>
              <a:srgbClr val="A5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17520" y="2377440"/>
            <a:ext cx="530352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300" dirty="0">
                <a:solidFill>
                  <a:schemeClr val="bg1"/>
                </a:solidFill>
              </a:rPr>
              <a:t>Surunkali kasalliklarni masofadan kuzatish va bemor–klinika aloqasini yaxshilash platformasi.</a:t>
            </a:r>
            <a:endParaRPr lang="en-US" altLang="en-US" sz="13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4663440"/>
            <a:ext cx="91440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0" y="4736592"/>
            <a:ext cx="91440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</a:t>
            </a:r>
            <a:r>
              <a:rPr lang="en-US" sz="900" dirty="0" err="1">
                <a:solidFill>
                  <a:srgbClr val="9CA3A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MilliyAIXakaton</a:t>
            </a:r>
            <a:r>
              <a:rPr lang="en-US" sz="900" dirty="0">
                <a:solidFill>
                  <a:srgbClr val="9CA3A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#Aura</a:t>
            </a:r>
            <a:r>
              <a:rPr lang="en-US" sz="900" dirty="0" err="1">
                <a:solidFill>
                  <a:srgbClr val="9CA3A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AI</a:t>
            </a:r>
            <a:r>
              <a:rPr lang="en-US" sz="900" dirty="0">
                <a:solidFill>
                  <a:srgbClr val="9CA3A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2026</a:t>
            </a:r>
            <a:endParaRPr lang="en-US" sz="9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07465"/>
            <a:ext cx="1371600" cy="1397000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3418840" y="48628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A5FF00">
              <a:alpha val="15000"/>
            </a:srgbClr>
          </a:solidFill>
          <a:ln w="12700">
            <a:solidFill>
              <a:srgbClr val="A5FF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5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411480"/>
          </a:xfrm>
          <a:prstGeom prst="rect">
            <a:avLst/>
          </a:prstGeom>
          <a:solidFill>
            <a:srgbClr val="A5FF00"/>
          </a:solidFill>
          <a:ln w="12700">
            <a:solidFill>
              <a:srgbClr val="A5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Sizning mahsulotingiz / kompaniyangizni tavsiflovchi 1-2 ta jumlalar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18920"/>
            <a:ext cx="2926080" cy="2587625"/>
          </a:xfrm>
          <a:prstGeom prst="rect">
            <a:avLst/>
          </a:prstGeom>
          <a:solidFill>
            <a:srgbClr val="14101A"/>
          </a:solidFill>
          <a:ln w="12700">
            <a:solidFill>
              <a:srgbClr val="111A1E"/>
            </a:solidFill>
            <a:prstDash val="solid"/>
          </a:ln>
        </p:spPr>
        <p:txBody>
          <a:bodyPr/>
          <a:lstStyle/>
          <a:p>
            <a:r>
              <a:rPr b="1">
                <a:solidFill>
                  <a:srgbClr val="A0FF00"/>
                </a:solidFill>
                <a:latin typeface="Aptos"/>
                <a:sym typeface="+mn-ea"/>
              </a:rPr>
              <a:t>Hamroh⁺</a:t>
            </a:r>
            <a:r>
              <a:rPr lang="en-US" altLang="en-US">
                <a:solidFill>
                  <a:schemeClr val="bg1"/>
                </a:solidFill>
              </a:rPr>
              <a:t> —klinikalarga surunkali kasalligi bo‘lgan bemorlarni masofadan kuzatish va nazorat qilish imkonini beruvchi B2B raqamli platforma. 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566160" y="1234440"/>
            <a:ext cx="5303520" cy="3200400"/>
          </a:xfrm>
          <a:prstGeom prst="rect">
            <a:avLst/>
          </a:prstGeom>
          <a:solidFill>
            <a:srgbClr val="0F1518"/>
          </a:solidFill>
          <a:ln w="12700">
            <a:solidFill>
              <a:srgbClr val="111A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Biz nimani taqdim etamiz?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Bemor holatini muntazam masofadan kuzatish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Shifokor va bemor o‘rtasidagi raqamli aloqa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Xavfli holatlarni erta aniqlash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Klinikaga avtomatik alert va eskalatsiya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Klinikalar uchun bemor monitoringini soddalashtirish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515360" y="1234440"/>
            <a:ext cx="54864" cy="3200400"/>
          </a:xfrm>
          <a:prstGeom prst="rect">
            <a:avLst/>
          </a:prstGeom>
          <a:solidFill>
            <a:srgbClr val="A5FF00"/>
          </a:solidFill>
          <a:ln w="12700">
            <a:solidFill>
              <a:srgbClr val="A5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89" y="1289675"/>
            <a:ext cx="3053135" cy="171732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150" y="741680"/>
            <a:ext cx="748665" cy="107188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615815" y="427355"/>
            <a:ext cx="883920" cy="357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  <a:sym typeface="+mn-ea"/>
              </a:rPr>
              <a:t>AI chat</a:t>
            </a:r>
            <a:endParaRPr lang="en-US" sz="1350" b="1" kern="0" spc="-42" dirty="0">
              <a:solidFill>
                <a:srgbClr val="272525"/>
              </a:solidFill>
              <a:latin typeface="Inter Bold" panose="02000503000000020004" pitchFamily="34" charset="0"/>
              <a:ea typeface="Inter Bold" panose="02000503000000020004" pitchFamily="34" charset="-122"/>
              <a:cs typeface="Inter Bold" panose="02000503000000020004" pitchFamily="34" charset="-12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15815" y="784860"/>
            <a:ext cx="1612265" cy="1216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400" kern="0" spc="-22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Kundalik check-in, dori eslatmalari, simptom so‘rovlari.</a:t>
            </a:r>
            <a:endParaRPr lang="en-US" sz="1400"/>
          </a:p>
        </p:txBody>
      </p:sp>
      <p:sp>
        <p:nvSpPr>
          <p:cNvPr id="6" name="Text Box 5"/>
          <p:cNvSpPr txBox="1"/>
          <p:nvPr/>
        </p:nvSpPr>
        <p:spPr>
          <a:xfrm>
            <a:off x="7266940" y="784860"/>
            <a:ext cx="1724660" cy="835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2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  <a:sym typeface="+mn-ea"/>
              </a:rPr>
              <a:t>Bemorlar ro‘yxati, risk darajasi, AI xulosalari va alertlar.</a:t>
            </a:r>
            <a:endParaRPr lang="en-US" sz="1400" kern="0" spc="-22" dirty="0">
              <a:solidFill>
                <a:srgbClr val="272525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  <a:sym typeface="+mn-ea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115" y="790575"/>
            <a:ext cx="663575" cy="102298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266940" y="467360"/>
            <a:ext cx="1462405" cy="273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  <a:sym typeface="+mn-ea"/>
              </a:rPr>
              <a:t>Shifokor paneli</a:t>
            </a:r>
            <a:endParaRPr lang="en-US" sz="1350" b="1" kern="0" spc="-42" dirty="0">
              <a:solidFill>
                <a:srgbClr val="272525"/>
              </a:solidFill>
              <a:latin typeface="Inter Bold" panose="02000503000000020004" pitchFamily="34" charset="0"/>
              <a:ea typeface="Inter Bold" panose="02000503000000020004" pitchFamily="34" charset="-122"/>
              <a:cs typeface="Inter Bold" panose="02000503000000020004" pitchFamily="34" charset="-120"/>
              <a:sym typeface="+mn-ea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665" y="2367915"/>
            <a:ext cx="1560195" cy="13366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" y="1281430"/>
            <a:ext cx="3576955" cy="336169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320040" y="145415"/>
            <a:ext cx="4238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kern="0" spc="-84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  <a:sym typeface="+mn-ea"/>
              </a:rPr>
              <a:t>MVP — Diabet uchun boshlovchi funktsiyalar</a:t>
            </a:r>
            <a:endParaRPr lang="en-US" dirty="0"/>
          </a:p>
          <a:p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6508750" y="2367915"/>
            <a:ext cx="2018030" cy="1520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400" b="1"/>
              <a:t>Bemor paneli</a:t>
            </a:r>
            <a:endParaRPr lang="en-US" altLang="en-US" sz="1400" b="1"/>
          </a:p>
          <a:p>
            <a:endParaRPr lang="en-US" altLang="en-US" sz="1400" b="1"/>
          </a:p>
          <a:p>
            <a:r>
              <a:rPr lang="en-US" altLang="en-US" sz="1400" b="1"/>
              <a:t>Glyukozani kuzatish</a:t>
            </a:r>
            <a:endParaRPr lang="en-US" altLang="en-US" sz="1400" b="1"/>
          </a:p>
          <a:p>
            <a:r>
              <a:rPr lang="en-US" altLang="en-US" sz="1400" b="1"/>
              <a:t>Dori eslatmalari</a:t>
            </a:r>
            <a:endParaRPr lang="en-US" altLang="en-US" sz="1400" b="1"/>
          </a:p>
          <a:p>
            <a:r>
              <a:rPr lang="en-US" altLang="en-US" sz="1400" b="1"/>
              <a:t>Kundalik check-in</a:t>
            </a:r>
            <a:endParaRPr lang="en-US" altLang="en-US" sz="1400" b="1"/>
          </a:p>
          <a:p>
            <a:r>
              <a:rPr lang="en-US" altLang="en-US" sz="1400" b="1"/>
              <a:t>Shifokor bilan aloqa</a:t>
            </a:r>
            <a:endParaRPr lang="en-US" altLang="en-US" sz="1400" b="1"/>
          </a:p>
        </p:txBody>
      </p:sp>
      <p:sp>
        <p:nvSpPr>
          <p:cNvPr id="15" name="Text Box 14"/>
          <p:cNvSpPr txBox="1"/>
          <p:nvPr/>
        </p:nvSpPr>
        <p:spPr>
          <a:xfrm>
            <a:off x="4251960" y="4070985"/>
            <a:ext cx="4584700" cy="891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/>
          </a:p>
          <a:p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A5FF00">
              <a:alpha val="15000"/>
            </a:srgbClr>
          </a:solidFill>
          <a:ln w="12700">
            <a:solidFill>
              <a:srgbClr val="A5FF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5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Bozor hajmi va maqsadli auditoriya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4864" cy="365760"/>
          </a:xfrm>
          <a:prstGeom prst="rect">
            <a:avLst/>
          </a:prstGeom>
          <a:solidFill>
            <a:srgbClr val="A5FF00"/>
          </a:solidFill>
          <a:ln w="12700">
            <a:solidFill>
              <a:srgbClr val="A5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2926080" cy="3200400"/>
          </a:xfrm>
          <a:prstGeom prst="rect">
            <a:avLst/>
          </a:prstGeom>
          <a:solidFill>
            <a:srgbClr val="141019"/>
          </a:solidFill>
          <a:ln w="12700">
            <a:solidFill>
              <a:srgbClr val="111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2926080" cy="54864"/>
          </a:xfrm>
          <a:prstGeom prst="rect">
            <a:avLst/>
          </a:prstGeom>
          <a:solidFill>
            <a:srgbClr val="A5FF00"/>
          </a:solidFill>
          <a:ln w="12700">
            <a:solidFill>
              <a:srgbClr val="A5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2468880" cy="1280160"/>
          </a:xfrm>
          <a:prstGeom prst="rect">
            <a:avLst/>
          </a:prstGeom>
          <a:solidFill>
            <a:srgbClr val="A5FF00"/>
          </a:solidFill>
          <a:ln w="12700">
            <a:solidFill>
              <a:srgbClr val="A5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2468880" cy="12801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Bozor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hajmi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66160" y="1298448"/>
            <a:ext cx="5303520" cy="822960"/>
          </a:xfrm>
          <a:prstGeom prst="rect">
            <a:avLst/>
          </a:prstGeom>
          <a:solidFill>
            <a:srgbClr val="0F1518"/>
          </a:solidFill>
          <a:ln w="12700">
            <a:solidFill>
              <a:srgbClr val="111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66160" y="1298448"/>
            <a:ext cx="5029200" cy="36576"/>
          </a:xfrm>
          <a:prstGeom prst="rect">
            <a:avLst/>
          </a:prstGeom>
          <a:solidFill>
            <a:srgbClr val="A5FF00"/>
          </a:solidFill>
          <a:ln w="12700">
            <a:solidFill>
              <a:srgbClr val="A5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03320" y="1389888"/>
            <a:ext cx="685800" cy="347472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95165" y="1390015"/>
            <a:ext cx="5455920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l"/>
            <a:endParaRPr sz="1400" b="1">
              <a:solidFill>
                <a:srgbClr val="F5F8FC"/>
              </a:solidFill>
              <a:latin typeface="Aptos"/>
              <a:sym typeface="+mn-ea"/>
            </a:endParaRPr>
          </a:p>
          <a:p>
            <a:pPr algn="l"/>
            <a:r>
              <a:rPr lang="en-US" sz="1400">
                <a:solidFill>
                  <a:srgbClr val="F5F8FC"/>
                </a:solidFill>
                <a:latin typeface="Aptos"/>
                <a:sym typeface="+mn-ea"/>
              </a:rPr>
              <a:t> </a:t>
            </a:r>
            <a:r>
              <a:rPr sz="1400" b="1">
                <a:solidFill>
                  <a:srgbClr val="F5F8FC"/>
                </a:solidFill>
                <a:latin typeface="Aptos"/>
                <a:sym typeface="+mn-ea"/>
              </a:rPr>
              <a:t>$18.3B</a:t>
            </a:r>
            <a:r>
              <a:rPr lang="en-US" sz="1400">
                <a:solidFill>
                  <a:srgbClr val="F5F8FC"/>
                </a:solidFill>
                <a:latin typeface="Aptos"/>
                <a:sym typeface="+mn-ea"/>
              </a:rPr>
              <a:t> </a:t>
            </a:r>
            <a:r>
              <a:rPr lang="en-US" altLang="en-US" sz="1400">
                <a:solidFill>
                  <a:srgbClr val="F5F8FC"/>
                </a:solidFill>
                <a:latin typeface="Aptos"/>
                <a:sym typeface="+mn-ea"/>
              </a:rPr>
              <a:t> </a:t>
            </a:r>
            <a:r>
              <a:rPr lang="en-US" altLang="en-US" sz="1400" b="1">
                <a:solidFill>
                  <a:srgbClr val="F5F8FC"/>
                </a:solidFill>
                <a:latin typeface="Aptos"/>
                <a:sym typeface="+mn-ea"/>
              </a:rPr>
              <a:t>Bu Hamroh⁺ ishlashi mumkin bo‘lgan </a:t>
            </a:r>
            <a:endParaRPr lang="en-US" altLang="en-US" sz="1400" b="1">
              <a:solidFill>
                <a:srgbClr val="F5F8FC"/>
              </a:solidFill>
              <a:latin typeface="Aptos"/>
              <a:sym typeface="+mn-ea"/>
            </a:endParaRPr>
          </a:p>
          <a:p>
            <a:pPr algn="l"/>
            <a:r>
              <a:rPr lang="en-US" altLang="en-US" sz="1400" b="1">
                <a:solidFill>
                  <a:srgbClr val="F5F8FC"/>
                </a:solidFill>
                <a:latin typeface="Aptos"/>
                <a:sym typeface="+mn-ea"/>
              </a:rPr>
              <a:t>  umumiy global bozor.</a:t>
            </a:r>
            <a:endParaRPr lang="en-US" altLang="en-US" sz="1400" b="1">
              <a:solidFill>
                <a:srgbClr val="F5F8FC"/>
              </a:solidFill>
              <a:latin typeface="Aptos"/>
              <a:sym typeface="+mn-ea"/>
            </a:endParaRPr>
          </a:p>
          <a:p>
            <a:pPr algn="l"/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_______________________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66160" y="2304288"/>
            <a:ext cx="5303520" cy="822960"/>
          </a:xfrm>
          <a:prstGeom prst="rect">
            <a:avLst/>
          </a:prstGeom>
          <a:solidFill>
            <a:srgbClr val="0F1518"/>
          </a:solidFill>
          <a:ln w="12700">
            <a:solidFill>
              <a:srgbClr val="111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66160" y="2304288"/>
            <a:ext cx="4114800" cy="36576"/>
          </a:xfrm>
          <a:prstGeom prst="rect">
            <a:avLst/>
          </a:prstGeom>
          <a:solidFill>
            <a:srgbClr val="E6B950"/>
          </a:solidFill>
          <a:ln w="12700">
            <a:solidFill>
              <a:srgbClr val="E6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03320" y="2395728"/>
            <a:ext cx="685800" cy="347472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7420" y="2482850"/>
            <a:ext cx="3337560" cy="465455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ctr"/>
            <a:r>
              <a:rPr lang="en-US" altLang="en-US" sz="1400">
                <a:solidFill>
                  <a:schemeClr val="bg1"/>
                </a:solidFill>
                <a:sym typeface="+mn-ea"/>
              </a:rPr>
              <a:t>$54.1M O‘zbekiston diabet bozo</a:t>
            </a:r>
            <a:r>
              <a:rPr lang="en-US" altLang="en-US" sz="1400">
                <a:solidFill>
                  <a:schemeClr val="bg1">
                    <a:lumMod val="95000"/>
                  </a:schemeClr>
                </a:solidFill>
                <a:sym typeface="+mn-ea"/>
              </a:rPr>
              <a:t>ri uchun hisoblangan addressable </a:t>
            </a:r>
            <a:r>
              <a:rPr lang="en-US" altLang="en-US" sz="1400">
                <a:sym typeface="+mn-ea"/>
              </a:rPr>
              <a:t>revenue</a:t>
            </a: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_______________________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66160" y="3310128"/>
            <a:ext cx="5303520" cy="822960"/>
          </a:xfrm>
          <a:prstGeom prst="rect">
            <a:avLst/>
          </a:prstGeom>
          <a:solidFill>
            <a:srgbClr val="0F1518"/>
          </a:solidFill>
          <a:ln w="12700">
            <a:solidFill>
              <a:srgbClr val="111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66160" y="3310128"/>
            <a:ext cx="3200400" cy="36576"/>
          </a:xfrm>
          <a:prstGeom prst="rect">
            <a:avLst/>
          </a:prstGeom>
          <a:solidFill>
            <a:srgbClr val="78DC00"/>
          </a:solidFill>
          <a:ln w="12700">
            <a:solidFill>
              <a:srgbClr val="78D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03320" y="3401568"/>
            <a:ext cx="685800" cy="347472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8DC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SOM</a:t>
            </a:r>
            <a:endParaRPr lang="en-US" sz="1600" dirty="0"/>
          </a:p>
        </p:txBody>
      </p:sp>
      <p:sp>
        <p:nvSpPr>
          <p:cNvPr id="27" name="Text Box 26"/>
          <p:cNvSpPr txBox="1"/>
          <p:nvPr/>
        </p:nvSpPr>
        <p:spPr>
          <a:xfrm>
            <a:off x="4606290" y="3309620"/>
            <a:ext cx="3989070" cy="828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>
                <a:solidFill>
                  <a:schemeClr val="bg1"/>
                </a:solidFill>
                <a:sym typeface="+mn-ea"/>
              </a:rPr>
              <a:t>$552K</a:t>
            </a:r>
            <a:endParaRPr lang="en-US" altLang="en-US">
              <a:solidFill>
                <a:schemeClr val="bg1"/>
              </a:solidFill>
            </a:endParaRPr>
          </a:p>
          <a:p>
            <a:pPr algn="ctr"/>
            <a:r>
              <a:rPr lang="en-US" altLang="en-US">
                <a:solidFill>
                  <a:schemeClr val="bg1"/>
                </a:solidFill>
                <a:sym typeface="+mn-ea"/>
              </a:rPr>
              <a:t>3-yillik realistik maqsad: 120 ta klinika va taxminan 16,500 faol bemor, yillik SaaS </a:t>
            </a:r>
            <a:r>
              <a:rPr lang="en-US" altLang="en-US">
                <a:sym typeface="+mn-ea"/>
              </a:rPr>
              <a:t>revenue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19050"/>
            <a:ext cx="1088136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80C0F"/>
                </a:solidFill>
                <a:latin typeface="Aptos"/>
              </a:rPr>
              <a:t> </a:t>
            </a:r>
            <a:r>
              <a:rPr b="1">
                <a:solidFill>
                  <a:srgbClr val="080C0F"/>
                </a:solidFill>
                <a:latin typeface="Aptos"/>
              </a:rPr>
              <a:t>Raqobatdagi ustunlik</a:t>
            </a:r>
            <a:endParaRPr b="1">
              <a:solidFill>
                <a:srgbClr val="080C0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3050" y="544195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B5258"/>
                </a:solidFill>
                <a:latin typeface="Aptos"/>
              </a:rPr>
              <a:t>Yechim</a:t>
            </a:r>
            <a:endParaRPr sz="1500" b="1">
              <a:solidFill>
                <a:srgbClr val="4B5258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73985" y="78041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B5258"/>
                </a:solidFill>
                <a:latin typeface="Aptos"/>
              </a:rPr>
              <a:t>Asosiy kuchi</a:t>
            </a:r>
            <a:endParaRPr sz="1500" b="1">
              <a:solidFill>
                <a:srgbClr val="4B525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0" y="777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B5258"/>
                </a:solidFill>
                <a:latin typeface="Aptos"/>
              </a:rPr>
              <a:t>Hamroh⁺ farqi</a:t>
            </a:r>
            <a:endParaRPr sz="1500" b="1">
              <a:solidFill>
                <a:srgbClr val="4B5258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3855" y="1146175"/>
            <a:ext cx="201168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80C0F"/>
                </a:solidFill>
                <a:latin typeface="Aptos"/>
              </a:rPr>
              <a:t>DMED</a:t>
            </a:r>
            <a:endParaRPr sz="1700" b="1">
              <a:solidFill>
                <a:srgbClr val="080C0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39365" y="1097280"/>
            <a:ext cx="1905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400" b="0">
                <a:solidFill>
                  <a:srgbClr val="4B5258"/>
                </a:solidFill>
                <a:latin typeface="Aptos"/>
              </a:rPr>
              <a:t>Tibbiy ma’lumotlarni saqlash va boshqarish</a:t>
            </a:r>
            <a:endParaRPr lang="en-US" altLang="en-US" sz="1400" b="0">
              <a:solidFill>
                <a:srgbClr val="4B5258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40680" y="1097280"/>
            <a:ext cx="307276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80C0F"/>
                </a:solidFill>
                <a:latin typeface="Aptos"/>
              </a:rPr>
              <a:t>Uning o‘rnini bosmaymiz — kundalik AI monitoring qatlamini qo‘shamiz.</a:t>
            </a:r>
            <a:endParaRPr sz="1400" b="0">
              <a:solidFill>
                <a:srgbClr val="080C0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" y="1662430"/>
            <a:ext cx="201168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700" b="1">
                <a:solidFill>
                  <a:srgbClr val="080C0F"/>
                </a:solidFill>
                <a:latin typeface="Aptos"/>
              </a:rPr>
              <a:t>   </a:t>
            </a:r>
            <a:r>
              <a:rPr sz="1700" b="1">
                <a:solidFill>
                  <a:srgbClr val="080C0F"/>
                </a:solidFill>
                <a:latin typeface="Aptos"/>
              </a:rPr>
              <a:t>Memora Health</a:t>
            </a:r>
            <a:endParaRPr sz="1700" b="1">
              <a:solidFill>
                <a:srgbClr val="080C0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81275" y="1619250"/>
            <a:ext cx="242697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400" b="0">
                <a:solidFill>
                  <a:srgbClr val="4B5258"/>
                </a:solidFill>
                <a:latin typeface="Aptos"/>
              </a:rPr>
              <a:t>Bemor bilan raqamli muloqot va klinik monitoring</a:t>
            </a:r>
            <a:endParaRPr lang="en-US" altLang="en-US" sz="1400" b="0">
              <a:solidFill>
                <a:srgbClr val="4B525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40680" y="1619250"/>
            <a:ext cx="319913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400" b="0">
                <a:solidFill>
                  <a:srgbClr val="080C0F"/>
                </a:solidFill>
                <a:latin typeface="Aptos"/>
              </a:rPr>
              <a:t>Biz O‘zbekiston bozoriga mos, sodda chat va mahalliy klinik workflow yaratamiz.</a:t>
            </a:r>
            <a:endParaRPr lang="en-US" altLang="en-US" sz="1400" b="0">
              <a:solidFill>
                <a:srgbClr val="080C0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2090" y="2510790"/>
            <a:ext cx="18161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1700" b="1">
                <a:solidFill>
                  <a:srgbClr val="080C0F"/>
                </a:solidFill>
                <a:latin typeface="Aptos"/>
              </a:rPr>
              <a:t>   </a:t>
            </a:r>
            <a:r>
              <a:rPr sz="1700" b="1">
                <a:solidFill>
                  <a:srgbClr val="080C0F"/>
                </a:solidFill>
                <a:latin typeface="Aptos"/>
              </a:rPr>
              <a:t>Huma</a:t>
            </a:r>
            <a:endParaRPr sz="1700" b="1">
              <a:solidFill>
                <a:srgbClr val="080C0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76170" y="2510790"/>
            <a:ext cx="27432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400" b="0">
                <a:solidFill>
                  <a:srgbClr val="4B5258"/>
                </a:solidFill>
                <a:latin typeface="Aptos"/>
              </a:rPr>
              <a:t>Masofaviy monitoring va xavfni tahlil qilish</a:t>
            </a:r>
            <a:endParaRPr lang="en-US" altLang="en-US" sz="1400" b="0">
              <a:solidFill>
                <a:srgbClr val="4B5258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25440" y="2388870"/>
            <a:ext cx="2637155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400" b="0">
                <a:solidFill>
                  <a:srgbClr val="080C0F"/>
                </a:solidFill>
                <a:latin typeface="Aptos"/>
              </a:rPr>
              <a:t>Biz maxsus qurilmalarsiz, bemorning oddiy chat javoblaridan boshlaymiz.</a:t>
            </a:r>
            <a:endParaRPr lang="en-US" altLang="en-US" sz="1400" b="0">
              <a:solidFill>
                <a:srgbClr val="080C0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3050" y="3348355"/>
            <a:ext cx="201168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80C0F"/>
                </a:solidFill>
                <a:latin typeface="Aptos"/>
              </a:rPr>
              <a:t>Cadence</a:t>
            </a:r>
            <a:endParaRPr sz="1700" b="1">
              <a:solidFill>
                <a:srgbClr val="080C0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76170" y="3347720"/>
            <a:ext cx="27432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400" b="0">
                <a:solidFill>
                  <a:srgbClr val="4B5258"/>
                </a:solidFill>
                <a:latin typeface="Aptos"/>
              </a:rPr>
              <a:t>AI va masofaviy bemor monitoringi</a:t>
            </a:r>
            <a:endParaRPr lang="en-US" altLang="en-US" sz="1400" b="0">
              <a:solidFill>
                <a:srgbClr val="4B5258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40680" y="3332480"/>
            <a:ext cx="341503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400" b="0">
                <a:solidFill>
                  <a:srgbClr val="080C0F"/>
                </a:solidFill>
                <a:latin typeface="Aptos"/>
              </a:rPr>
              <a:t>Biz arzonroq va sodda modeldan — matnli monitoringdan boshlaymiz.</a:t>
            </a:r>
            <a:endParaRPr lang="en-US" altLang="en-US" sz="1400" b="0">
              <a:solidFill>
                <a:srgbClr val="080C0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-191135" y="4060825"/>
            <a:ext cx="8949690" cy="8324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en-US" sz="1800" b="1">
                <a:solidFill>
                  <a:srgbClr val="284614"/>
                </a:solidFill>
                <a:latin typeface="Aptos"/>
              </a:rPr>
              <a:t>DMED bizning raqibimiz emas. U tibbiy ma’lumotlarni boshqaradi, Hamroh⁺ esa bemorni shifoxonadan chiqqandan keyin AI orqali kuzatadi va xavfli holatlarni shifokorga yetkazadi. Kelajakda Hamroh⁺ DMED bilan integratsiyalanadi.</a:t>
            </a:r>
            <a:endParaRPr lang="en-US" altLang="en-US" sz="1800" b="1">
              <a:solidFill>
                <a:srgbClr val="28461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258"/>
                </a:solidFill>
                <a:latin typeface="Aptos"/>
              </a:rPr>
              <a:t>06  |  Hamroh⁺</a:t>
            </a:r>
            <a:endParaRPr sz="1000" b="0">
              <a:solidFill>
                <a:srgbClr val="4B52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A5FF00">
              <a:alpha val="15000"/>
            </a:srgbClr>
          </a:solidFill>
          <a:ln w="12700">
            <a:solidFill>
              <a:srgbClr val="A5FF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5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Monetizatsiya modeli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3200400" cy="3200400"/>
          </a:xfrm>
          <a:prstGeom prst="rect">
            <a:avLst/>
          </a:prstGeom>
          <a:solidFill>
            <a:srgbClr val="0D170A"/>
          </a:solidFill>
          <a:ln w="12700">
            <a:solidFill>
              <a:srgbClr val="111A1E"/>
            </a:solidFill>
            <a:prstDash val="solid"/>
          </a:ln>
        </p:spPr>
        <p:txBody>
          <a:bodyPr/>
          <a:lstStyle/>
          <a:p>
            <a:r>
              <a:rPr lang="en-US" altLang="en-US" sz="1400">
                <a:solidFill>
                  <a:schemeClr val="bg1"/>
                </a:solidFill>
              </a:rPr>
              <a:t>Qo’shimcha daromad modellari</a:t>
            </a:r>
            <a:endParaRPr lang="en-US" altLang="en-US" sz="1400">
              <a:solidFill>
                <a:schemeClr val="bg1"/>
              </a:solidFill>
            </a:endParaRPr>
          </a:p>
          <a:p>
            <a:endParaRPr lang="en-US" altLang="en-US" sz="1400">
              <a:solidFill>
                <a:schemeClr val="bg1"/>
              </a:solidFill>
            </a:endParaRPr>
          </a:p>
          <a:p>
            <a:r>
              <a:rPr lang="en-US" altLang="en-US" sz="1400">
                <a:solidFill>
                  <a:schemeClr val="bg1"/>
                </a:solidFill>
              </a:rPr>
              <a:t>Enterprise tariflar — yirik klinikalar va klinikalar tarmoqlari uchun individual narxlash</a:t>
            </a:r>
            <a:endParaRPr lang="en-US" altLang="en-US" sz="1400">
              <a:solidFill>
                <a:schemeClr val="bg1"/>
              </a:solidFill>
            </a:endParaRPr>
          </a:p>
          <a:p>
            <a:r>
              <a:rPr lang="en-US" altLang="en-US" sz="1400">
                <a:solidFill>
                  <a:schemeClr val="bg1"/>
                </a:solidFill>
              </a:rPr>
              <a:t>Qo‘shimcha bemor paketlari — klinika bazasi kengayganda tarifni oshirish</a:t>
            </a:r>
            <a:endParaRPr lang="en-US" altLang="en-US" sz="1400">
              <a:solidFill>
                <a:schemeClr val="bg1"/>
              </a:solidFill>
            </a:endParaRPr>
          </a:p>
          <a:p>
            <a:r>
              <a:rPr lang="en-US" altLang="en-US" sz="1400">
                <a:solidFill>
                  <a:schemeClr val="bg1"/>
                </a:solidFill>
              </a:rPr>
              <a:t>API / integratsiya — DMED va boshqa tibbiy tizimlar bilan integratsiya uchun alohida to‘lov</a:t>
            </a:r>
            <a:endParaRPr lang="en-US" altLang="en-US" sz="1400">
              <a:solidFill>
                <a:schemeClr val="bg1"/>
              </a:solidFill>
            </a:endParaRPr>
          </a:p>
          <a:p>
            <a:r>
              <a:rPr lang="en-US" altLang="en-US" sz="1400">
                <a:solidFill>
                  <a:schemeClr val="bg1"/>
                </a:solidFill>
              </a:rPr>
              <a:t>Analytics &amp; Reporting — klinikalarga kengaytirilgan analitika va hisobotlar</a:t>
            </a:r>
            <a:endParaRPr lang="en-US" altLang="en-US" sz="1400">
              <a:solidFill>
                <a:schemeClr val="bg1"/>
              </a:solidFill>
            </a:endParaRPr>
          </a:p>
          <a:p>
            <a:r>
              <a:rPr lang="en-US" altLang="en-US" sz="1400">
                <a:solidFill>
                  <a:schemeClr val="bg1"/>
                </a:solidFill>
              </a:rPr>
              <a:t>Keyingi bosqich B2C — klinikaga bormaydigan bemorlar uchun $2/oy</a:t>
            </a:r>
            <a:endParaRPr lang="en-US" altLang="en-US" sz="140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40480" y="1207008"/>
            <a:ext cx="5029200" cy="932688"/>
          </a:xfrm>
          <a:prstGeom prst="rect">
            <a:avLst/>
          </a:prstGeom>
          <a:solidFill>
            <a:srgbClr val="0F1518"/>
          </a:solidFill>
          <a:ln w="12700">
            <a:solidFill>
              <a:srgbClr val="111A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40480" y="1207008"/>
            <a:ext cx="54864" cy="932688"/>
          </a:xfrm>
          <a:prstGeom prst="rect">
            <a:avLst/>
          </a:prstGeom>
          <a:solidFill>
            <a:srgbClr val="78DC00"/>
          </a:solidFill>
          <a:ln w="12700">
            <a:solidFill>
              <a:srgbClr val="78D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77640" y="1298448"/>
            <a:ext cx="475488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D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Kim to'laydi?-  </a:t>
            </a:r>
            <a:r>
              <a:rPr lang="en-US" altLang="en-US" sz="1300" b="1" dirty="0">
                <a:solidFill>
                  <a:srgbClr val="78D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Klinikalar va xususiy tibbiyot markazlari</a:t>
            </a:r>
            <a:endParaRPr lang="en-US" altLang="en-US" sz="1300" b="1" dirty="0">
              <a:solidFill>
                <a:srgbClr val="78DC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77640" y="1682496"/>
            <a:ext cx="4754880" cy="38404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0" y="2258568"/>
            <a:ext cx="5029200" cy="932688"/>
          </a:xfrm>
          <a:prstGeom prst="rect">
            <a:avLst/>
          </a:prstGeom>
          <a:solidFill>
            <a:srgbClr val="0F1518"/>
          </a:solidFill>
          <a:ln w="12700">
            <a:solidFill>
              <a:srgbClr val="111A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40480" y="2258568"/>
            <a:ext cx="54864" cy="932688"/>
          </a:xfrm>
          <a:prstGeom prst="rect">
            <a:avLst/>
          </a:prstGeom>
          <a:solidFill>
            <a:srgbClr val="78DC00"/>
          </a:solidFill>
          <a:ln w="12700">
            <a:solidFill>
              <a:srgbClr val="78D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77640" y="2350008"/>
            <a:ext cx="475488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D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Qancha to'laydi?-   </a:t>
            </a:r>
            <a:r>
              <a:rPr lang="en-US" altLang="en-US" sz="1300" b="1" dirty="0">
                <a:solidFill>
                  <a:srgbClr val="78D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$300 / oy / klinika</a:t>
            </a:r>
            <a:endParaRPr lang="en-US" altLang="en-US" sz="1300" b="1" dirty="0">
              <a:solidFill>
                <a:srgbClr val="78DC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977640" y="2734056"/>
            <a:ext cx="4754880" cy="38404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0480" y="3310128"/>
            <a:ext cx="5029200" cy="932688"/>
          </a:xfrm>
          <a:prstGeom prst="rect">
            <a:avLst/>
          </a:prstGeom>
          <a:solidFill>
            <a:srgbClr val="0F1518"/>
          </a:solidFill>
          <a:ln w="12700">
            <a:solidFill>
              <a:srgbClr val="111A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40480" y="3310128"/>
            <a:ext cx="54864" cy="932688"/>
          </a:xfrm>
          <a:prstGeom prst="rect">
            <a:avLst/>
          </a:prstGeom>
          <a:solidFill>
            <a:srgbClr val="78DC00"/>
          </a:solidFill>
          <a:ln w="12700">
            <a:solidFill>
              <a:srgbClr val="78D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77640" y="3401568"/>
            <a:ext cx="475488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D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Nima uchun?-</a:t>
            </a:r>
            <a:r>
              <a:rPr lang="en-US" altLang="en-US" sz="1300" b="1" dirty="0">
                <a:solidFill>
                  <a:srgbClr val="78D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Bemorlarni masofadan kuzatish, shifokor vaqtini tejash va xavfli holatlarni erta aniqlash uchun.</a:t>
            </a:r>
            <a:endParaRPr lang="en-US" altLang="en-US" sz="1300" b="1" dirty="0">
              <a:solidFill>
                <a:srgbClr val="78DC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977640" y="3785616"/>
            <a:ext cx="4754880" cy="384048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Text Box 23"/>
          <p:cNvSpPr txBox="1"/>
          <p:nvPr/>
        </p:nvSpPr>
        <p:spPr>
          <a:xfrm>
            <a:off x="1147445" y="807720"/>
            <a:ext cx="7583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>
                <a:solidFill>
                  <a:schemeClr val="bg1">
                    <a:lumMod val="95000"/>
                  </a:schemeClr>
                </a:solidFill>
              </a:rPr>
              <a:t>Asosiy daromad modeli boshlang’ich holatda B2B SaaS-— klinika to‘laydi, bemor bepul foydalanadi</a:t>
            </a:r>
            <a:r>
              <a:rPr lang="en-US" altLang="en-US"/>
              <a:t>ka 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-635"/>
            <a:ext cx="9143365" cy="51441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A5FF00">
              <a:alpha val="15000"/>
            </a:srgbClr>
          </a:solidFill>
          <a:ln w="12700">
            <a:solidFill>
              <a:srgbClr val="A5FF0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21040" y="137160"/>
            <a:ext cx="73152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</p:spPr>
        <p:style>
          <a:lnRef idx="2">
            <a:schemeClr val="lt1"/>
          </a:lnRef>
          <a:fillRef idx="1">
            <a:prstClr val="black"/>
          </a:fillRef>
          <a:effectRef idx="1">
            <a:prstClr val="black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>
              <a:buNone/>
            </a:pPr>
            <a:r>
              <a:rPr lang="en-US" sz="2600" dirty="0"/>
              <a:t> Jamoa nomi -Aura 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685800"/>
            <a:ext cx="777240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473"/>
            <a:ext cx="2011680" cy="3291840"/>
          </a:xfrm>
          <a:prstGeom prst="rect">
            <a:avLst/>
          </a:prstGeom>
          <a:solidFill>
            <a:srgbClr val="0F1518"/>
          </a:solidFill>
          <a:ln w="12700">
            <a:solidFill>
              <a:srgbClr val="111A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1371600"/>
            <a:ext cx="914400" cy="914400"/>
          </a:xfrm>
          <a:prstGeom prst="line">
            <a:avLst/>
          </a:prstGeom>
          <a:solidFill>
            <a:srgbClr val="111A1E"/>
          </a:solidFill>
          <a:ln w="12700">
            <a:solidFill>
              <a:srgbClr val="A5F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9440" y="1371600"/>
            <a:ext cx="1741805" cy="942975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1828800" cy="320040"/>
          </a:xfrm>
          <a:prstGeom prst="rect">
            <a:avLst/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/>
              <a:t>Mo’minov Sultonali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61488"/>
            <a:ext cx="182880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5F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altLang="en-US" sz="1100" dirty="0">
                <a:solidFill>
                  <a:srgbClr val="A5F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CEO / Project Lead</a:t>
            </a:r>
            <a:endParaRPr lang="en-US" altLang="en-US" sz="1100" dirty="0">
              <a:solidFill>
                <a:srgbClr val="A5FF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3127248"/>
            <a:ext cx="1463040" cy="18288"/>
          </a:xfrm>
          <a:prstGeom prst="rect">
            <a:avLst/>
          </a:prstGeom>
          <a:solidFill>
            <a:srgbClr val="111A1E"/>
          </a:solidFill>
          <a:ln w="12700">
            <a:solidFill>
              <a:srgbClr val="111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218688"/>
            <a:ext cx="182880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1828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33472" y="1207008"/>
            <a:ext cx="2011680" cy="3291840"/>
          </a:xfrm>
          <a:prstGeom prst="rect">
            <a:avLst/>
          </a:prstGeom>
          <a:solidFill>
            <a:srgbClr val="0F1518"/>
          </a:solidFill>
          <a:ln w="12700">
            <a:solidFill>
              <a:srgbClr val="111A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82112" y="1371600"/>
            <a:ext cx="914400" cy="914400"/>
          </a:xfrm>
          <a:prstGeom prst="line">
            <a:avLst/>
          </a:prstGeom>
          <a:solidFill>
            <a:srgbClr val="111A1E"/>
          </a:solidFill>
          <a:ln w="12700">
            <a:solidFill>
              <a:srgbClr val="5C91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82112" y="1371600"/>
            <a:ext cx="914400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724912" y="2423160"/>
            <a:ext cx="1828800" cy="320040"/>
          </a:xfrm>
          <a:prstGeom prst="rect">
            <a:avLst/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/>
              <a:t>Sharipov Shohjahon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24912" y="2761488"/>
            <a:ext cx="1828800" cy="320040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CTO / Backend &amp; AI Developer</a:t>
            </a:r>
            <a:endParaRPr lang="en-US" altLang="en-US" sz="11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907792" y="3127248"/>
            <a:ext cx="1463040" cy="18288"/>
          </a:xfrm>
          <a:prstGeom prst="rect">
            <a:avLst/>
          </a:prstGeom>
          <a:solidFill>
            <a:srgbClr val="111A1E"/>
          </a:solidFill>
          <a:ln w="12700">
            <a:solidFill>
              <a:srgbClr val="111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24912" y="3218688"/>
            <a:ext cx="182880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24912" y="3749040"/>
            <a:ext cx="1828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9744" y="1207008"/>
            <a:ext cx="2011680" cy="3291840"/>
          </a:xfrm>
          <a:prstGeom prst="rect">
            <a:avLst/>
          </a:prstGeom>
          <a:solidFill>
            <a:srgbClr val="0F1518"/>
          </a:solidFill>
          <a:ln w="12700">
            <a:solidFill>
              <a:srgbClr val="111A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358384" y="1371600"/>
            <a:ext cx="914400" cy="914400"/>
          </a:xfrm>
          <a:prstGeom prst="line">
            <a:avLst/>
          </a:prstGeom>
          <a:solidFill>
            <a:srgbClr val="111A1E"/>
          </a:solidFill>
          <a:ln w="12700">
            <a:solidFill>
              <a:srgbClr val="967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58384" y="1371600"/>
            <a:ext cx="914400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901184" y="2423160"/>
            <a:ext cx="182880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Pardayev Botirali</a:t>
            </a:r>
            <a:r>
              <a:rPr lang="en-US" sz="1300" dirty="0"/>
              <a:t>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01184" y="2761488"/>
            <a:ext cx="182880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1100" dirty="0">
                <a:solidFill>
                  <a:srgbClr val="967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/ UI/UX Designer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84064" y="3127248"/>
            <a:ext cx="1463040" cy="18288"/>
          </a:xfrm>
          <a:prstGeom prst="rect">
            <a:avLst/>
          </a:prstGeom>
          <a:solidFill>
            <a:srgbClr val="111A1E"/>
          </a:solidFill>
          <a:ln w="12700">
            <a:solidFill>
              <a:srgbClr val="111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1184" y="3218688"/>
            <a:ext cx="182880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01184" y="3749040"/>
            <a:ext cx="1828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20281" y="1268603"/>
            <a:ext cx="2011680" cy="3291840"/>
          </a:xfrm>
          <a:prstGeom prst="rect">
            <a:avLst/>
          </a:prstGeom>
          <a:solidFill>
            <a:srgbClr val="0F1518"/>
          </a:solidFill>
          <a:ln w="12700">
            <a:solidFill>
              <a:srgbClr val="111A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534656" y="1371600"/>
            <a:ext cx="914400" cy="914400"/>
          </a:xfrm>
          <a:prstGeom prst="line">
            <a:avLst/>
          </a:prstGeom>
          <a:solidFill>
            <a:srgbClr val="111A1E"/>
          </a:solidFill>
          <a:ln w="12700">
            <a:solidFill>
              <a:srgbClr val="78D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534910" y="1349375"/>
            <a:ext cx="914400" cy="936625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077456" y="2423160"/>
            <a:ext cx="182880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Tohirov Hayotbek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77456" y="2761488"/>
            <a:ext cx="182880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1100" dirty="0">
                <a:solidFill>
                  <a:srgbClr val="78D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CMO / Marketing &amp; Growth Lead</a:t>
            </a:r>
            <a:endParaRPr lang="en-US" altLang="en-US" sz="1100" dirty="0">
              <a:solidFill>
                <a:srgbClr val="78DC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260336" y="3127248"/>
            <a:ext cx="1463040" cy="18288"/>
          </a:xfrm>
          <a:prstGeom prst="rect">
            <a:avLst/>
          </a:prstGeom>
          <a:solidFill>
            <a:srgbClr val="111A1E"/>
          </a:solidFill>
          <a:ln w="12700">
            <a:solidFill>
              <a:srgbClr val="111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077456" y="3218688"/>
            <a:ext cx="1828800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77456" y="3749040"/>
            <a:ext cx="1828800" cy="6400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515" y="720725"/>
            <a:ext cx="1904365" cy="173863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rcRect t="14650"/>
          <a:stretch>
            <a:fillRect/>
          </a:stretch>
        </p:blipFill>
        <p:spPr>
          <a:xfrm>
            <a:off x="4810125" y="678815"/>
            <a:ext cx="2010410" cy="1744345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935" y="679450"/>
            <a:ext cx="1732280" cy="177165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345" y="679450"/>
            <a:ext cx="2085975" cy="1836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2906</Words>
  <Application>WPS Presentation</Application>
  <PresentationFormat>On-screen Show (16:9)</PresentationFormat>
  <Paragraphs>149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0" baseType="lpstr">
      <vt:lpstr>Arial</vt:lpstr>
      <vt:lpstr>SimSun</vt:lpstr>
      <vt:lpstr>Wingdings</vt:lpstr>
      <vt:lpstr>Consolas</vt:lpstr>
      <vt:lpstr>Consolas</vt:lpstr>
      <vt:lpstr>Consolas</vt:lpstr>
      <vt:lpstr>Calibri</vt:lpstr>
      <vt:lpstr>Calibri</vt:lpstr>
      <vt:lpstr>Calibri</vt:lpstr>
      <vt:lpstr>Aptos</vt:lpstr>
      <vt:lpstr>Segoe UI</vt:lpstr>
      <vt:lpstr>Inter Bold</vt:lpstr>
      <vt:lpstr>Corbel</vt:lpstr>
      <vt:lpstr>Inter Bold</vt:lpstr>
      <vt:lpstr>Inter Bold</vt:lpstr>
      <vt:lpstr>Inter</vt:lpstr>
      <vt:lpstr>Inter</vt:lpstr>
      <vt:lpstr>Inter</vt:lpstr>
      <vt:lpstr>Microsoft YaHei</vt:lpstr>
      <vt:lpstr>Arial Unicode MS</vt:lpstr>
      <vt:lpstr>PMingLiU-ExtB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Day Taqdimot Shabloni — AI Hackathon</dc:title>
  <dc:creator>PptxGenJS</dc:creator>
  <dc:subject>PptxGenJS Presentation</dc:subject>
  <cp:lastModifiedBy>hp</cp:lastModifiedBy>
  <cp:revision>7</cp:revision>
  <dcterms:created xsi:type="dcterms:W3CDTF">2026-03-30T19:38:00Z</dcterms:created>
  <dcterms:modified xsi:type="dcterms:W3CDTF">2026-08-17T13:07:19Z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8799E058EEF440B4AA478CEE1FC8D62D_12</vt:lpwstr>
  </property>
  <property fmtid="{D5CDD505-2E9C-101B-9397-08002B2CF9AE}" pid="3" name="KSOProductBuildVer">
    <vt:lpwstr>1033-12.1.0.28032</vt:lpwstr>
  </property>
</Properties>
</file>